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Calibri"/>
              </a:rPr>
              <a:t>MINI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ForgeCTO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5D0DA"/>
                </a:solidFill>
                <a:latin typeface="Calibri"/>
              </a:rPr>
              <a:t>Your virtual startup CTO — from one idea to architecture,
schema, APIs, AWS plan, and a build roadmap.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9488"/>
                </a:solidFill>
                <a:latin typeface="Calibri"/>
              </a:rPr>
              <a:t>AI Startup CTO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Early founders need CTO-level clarity — before they can hire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6616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No technical co-founder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63"/>
                </a:solidFill>
                <a:latin typeface="Calibri"/>
              </a:rPr>
              <a:t>Ideas stall because founders don’t know what to build first or how to structure the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56616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Scattered AI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63"/>
                </a:solidFill>
                <a:latin typeface="Calibri"/>
              </a:rPr>
              <a:t>ChatGPT gives fragments. No coherent architecture, schema, APIs, or sprint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56616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Expensive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0175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63"/>
                </a:solidFill>
                <a:latin typeface="Calibri"/>
              </a:rPr>
              <a:t>Wrong stack or vague MVP burns months — or consulting fees founders can’t afford yet.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Our Solution: ForgeCTO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One idea in → a complete CTO pack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4F63"/>
                </a:solidFill>
                <a:latin typeface="Calibri"/>
              </a:rPr>
              <a:t>A multi-agent virtual CTO that turns a startup idea into a structured, reviewable technical plan.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Market research &amp; competitors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377440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237744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Prioritized MVP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2377440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237744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System architecture (+ diagrams)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19" y="2377440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19" y="2377440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39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Database 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69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API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749039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3749039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4069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AWS design &amp; cost estimate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3749039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3749039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4069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Roadmap &amp; sprint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19" y="3749039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19" y="3749039"/>
            <a:ext cx="109728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39" y="4069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C2E"/>
                </a:solidFill>
                <a:latin typeface="Calibri"/>
              </a:rPr>
              <a:t>Markdown + GitHub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7 specialized agents in a LangGraph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0116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24028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31089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C2E"/>
                </a:solidFill>
                <a:latin typeface="Calibri"/>
              </a:rPr>
              <a:t>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356616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63"/>
                </a:solidFill>
                <a:latin typeface="Calibri"/>
              </a:rPr>
              <a:t>Scope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0116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68880" y="224028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31089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C2E"/>
                </a:solidFill>
                <a:latin typeface="Calibri"/>
              </a:rP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356616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63"/>
                </a:solidFill>
                <a:latin typeface="Calibri"/>
              </a:rPr>
              <a:t>Market &amp;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0116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224028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31089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C2E"/>
                </a:solidFill>
                <a:latin typeface="Calibri"/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356616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63"/>
                </a:solidFill>
                <a:latin typeface="Calibri"/>
              </a:rPr>
              <a:t>System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0116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0" y="224028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31089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C2E"/>
                </a:solidFill>
                <a:latin typeface="Calibri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356616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63"/>
                </a:solidFill>
                <a:latin typeface="Calibri"/>
              </a:rPr>
              <a:t>Schema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20116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43800" y="224028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31089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C2E"/>
                </a:solidFill>
                <a:latin typeface="Calibri"/>
              </a:rPr>
              <a:t>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356616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63"/>
                </a:solidFill>
                <a:latin typeface="Calibri"/>
              </a:rPr>
              <a:t>Endpoints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20116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35440" y="224028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31089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C2E"/>
                </a:solidFill>
                <a:latin typeface="Calibri"/>
              </a:rPr>
              <a:t>AWS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356616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63"/>
                </a:solidFill>
                <a:latin typeface="Calibri"/>
              </a:rPr>
              <a:t>Cloud &amp;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2331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69880" y="2011680"/>
            <a:ext cx="15544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927080" y="224028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3032" y="31089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C2E"/>
                </a:solidFill>
                <a:latin typeface="Calibri"/>
              </a:rPr>
              <a:t>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3032" y="356616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D4F63"/>
                </a:solidFill>
                <a:latin typeface="Calibri"/>
              </a:rPr>
              <a:t>Roadmap &amp; sprints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Live progress streams to the UI (SSE). Each step writes structured artifacts into a shared project state.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What judges will see in 2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058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Enter a startup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63"/>
                </a:solidFill>
                <a:latin typeface="Calibri"/>
              </a:rPr>
              <a:t>e.g. “Uber for pet grooming”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39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06039"/>
            <a:ext cx="10058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1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431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Watch agents run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1089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63"/>
                </a:solidFill>
                <a:latin typeface="Calibri"/>
              </a:rPr>
              <a:t>Planner → Research → Architecture → 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10058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136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94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Browse the CTO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160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63"/>
                </a:solidFill>
                <a:latin typeface="Calibri"/>
              </a:rPr>
              <a:t>Tabs: research, schema, APIs, AWS,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09159"/>
            <a:ext cx="11064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09159"/>
            <a:ext cx="10058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65191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463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C2E"/>
                </a:solidFill>
                <a:latin typeface="Calibri"/>
              </a:rPr>
              <a:t>Export &amp; 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120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63"/>
                </a:solidFill>
                <a:latin typeface="Calibri"/>
              </a:rPr>
              <a:t>Download markdown or create GitHub issues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Built for real agents — not just a chat wrapper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FastAPI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LangGraph + LangChain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Gemini / OpenAI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Tavily search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SQLAlchemy + SQLite/Postgres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35661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React + TypeScript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Vite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Mermaid.js diagrams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SSE live progress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Clerk 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5661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Ops &amp;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8600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Docker Compose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Rate limiting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Demo fallback mode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Markdown download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GitHub issue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Product strengths for founders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9144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C2E"/>
                </a:solidFill>
                <a:latin typeface="Calibri"/>
              </a:rPr>
              <a:t>Structured, not chatty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Pydantic schemas force consistent CTO artifacts every run.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3566160" cy="9144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C2E"/>
                </a:solidFill>
                <a:latin typeface="Calibri"/>
              </a:rPr>
              <a:t>Specialized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Each node has one job — better focus than one mega-prompt.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566160" cy="9144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C2E"/>
                </a:solidFill>
                <a:latin typeface="Calibri"/>
              </a:rPr>
              <a:t>Always demoable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23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Seed project + offline demo pack if LLM quota fails.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3566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C2E"/>
                </a:solidFill>
                <a:latin typeface="Calibri"/>
              </a:rPr>
              <a:t>From plan to backlog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Export docs and push GitHub issues for the engineering team.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65760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657600"/>
            <a:ext cx="3566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C2E"/>
                </a:solidFill>
                <a:latin typeface="Calibri"/>
              </a:rPr>
              <a:t>Transparent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Founders see each CTO step complete in real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657600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657600"/>
            <a:ext cx="35661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C2E"/>
                </a:solidFill>
                <a:latin typeface="Calibri"/>
              </a:rPr>
              <a:t>Human-in-the-loop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262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Draft for review — not blind automation of hard decisions.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We don’t replace builders — we brief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solidFill>
            <a:srgbClr val="0A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Gap / ForgeCTO 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064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4F63"/>
                </a:solidFill>
                <a:latin typeface="Calibri"/>
              </a:rPr>
              <a:t>ChatGPT / 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Great for code &amp;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No end-to-end CTO pack or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solidFill>
            <a:srgbClr val="E8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4F63"/>
                </a:solidFill>
                <a:latin typeface="Calibri"/>
              </a:rPr>
              <a:t>v0 / Lovable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Generate UI 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Skip research, schema, AWS, sprints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11064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4F63"/>
                </a:solidFill>
                <a:latin typeface="Calibri"/>
              </a:rPr>
              <a:t>Notion / Miro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General assistants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F63"/>
                </a:solidFill>
                <a:latin typeface="Calibri"/>
              </a:rPr>
              <a:t>Not a specialist technical workflow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79"/>
            <a:ext cx="11064240" cy="822960"/>
          </a:xfrm>
          <a:prstGeom prst="rect">
            <a:avLst/>
          </a:prstGeom>
          <a:solidFill>
            <a:srgbClr val="D4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C2E"/>
                </a:solidFill>
                <a:latin typeface="Calibri"/>
              </a:rPr>
              <a:t>ForgeCTO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983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C2E"/>
                </a:solidFill>
                <a:latin typeface="Calibri"/>
              </a:rPr>
              <a:t>Idea → full CTO pack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983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C2E"/>
                </a:solidFill>
                <a:latin typeface="Calibri"/>
              </a:rPr>
              <a:t>Research → architecture → APIs → cloud →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System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Simple architecture judges can follow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0320" cy="594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React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4F63"/>
                </a:solidFill>
                <a:latin typeface="Calibri"/>
              </a:rPr>
              <a:t>Idea form
Live steps
Artifact tabs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560320" cy="594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938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4F63"/>
                </a:solidFill>
                <a:latin typeface="Calibri"/>
              </a:rPr>
              <a:t>Projects API
SSE events
Export routes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560320" cy="594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38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LangGraph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4F63"/>
                </a:solidFill>
                <a:latin typeface="Calibri"/>
              </a:rPr>
              <a:t>7 agent nodes
Shared state
Retries / timeouts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8288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828800"/>
            <a:ext cx="2560320" cy="5943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38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974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4F63"/>
                </a:solidFill>
                <a:latin typeface="Calibri"/>
              </a:rPr>
              <a:t>Postgres / SQLite
Artifacts JSON
Run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D4F63"/>
                </a:solidFill>
                <a:latin typeface="Calibri"/>
              </a:rPr>
              <a:t>LLM: Gemini (preferred) or OpenAI  ·  Research: Tavily (optional)  ·  Auth: Clerk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Who Pays &amp;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Lightweight go-to-market for a hackathon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9496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Audience &amp;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Primary users: first-time / early founders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Secondary: accelerators &amp; student cohorts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Model: freemium runs + paid credits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B2B: white-label CTO packs for programs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9496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94960" cy="54864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Value: CTO draft in minutes, not weeks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Complements (not replaces) advisors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Makes human consulting 10× more focused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Low per-run cost with Gemini Flash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C2E"/>
                </a:solidFill>
                <a:latin typeface="Calibri"/>
              </a:rPr>
              <a:t>Built Now /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4F63"/>
                </a:solidFill>
                <a:latin typeface="Calibri"/>
              </a:rPr>
              <a:t>Honest scope for judges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94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Shipped for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Full 7-agent LangGraph pipeline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Live SSE dashboard + Mermaid views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Structured artifacts &amp; seed demo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Markdown + GitHub export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Gemini/OpenAI + demo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949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94960" cy="54864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C2E"/>
                </a:solidFill>
                <a:latin typeface="Calibri"/>
              </a:rPr>
              <a:t>Next 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Approve / regenerate single steps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Quality gates between agents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Stronger research grounding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Auth-scoped multi-user projects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D4F63"/>
                </a:solidFill>
                <a:latin typeface="Calibri"/>
              </a:rPr>
              <a:t>•  Accelerator cohort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F63"/>
                </a:solidFill>
                <a:latin typeface="Calibri"/>
              </a:rPr>
              <a:t>ForgeCTO  ·  Mini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D4F63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5D0DA"/>
                </a:solidFill>
                <a:latin typeface="Calibri"/>
              </a:rPr>
              <a:t>ForgeCTO — hire a virtual CTO before you hire a real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BBA"/>
                </a:solidFill>
                <a:latin typeface="Calibri"/>
              </a:rPr>
              <a:t>Demo tip: open seed project first, then run a fresh idea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